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Stack sovrano a due livelli: EULLM (modelli+inferenza) e I3K RAG Enterprise (applicazione). Obiettivo: mostrare situazione attuale e futura, e il posizionamento 'diamo gli strumenti, non ci assumiamo la responsabilità del deployer'.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n.1 da dire a memoria. L'Omnibus (adottato giugno 2026) sposta l'alto rischio a dic 2027 / ago 2028. Trasparenza Art. 50 resta al 2 ago 2026. Cautela onesta: il testo in GU è l'autorità ultima.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Verde = già in vigore. Ambra = attivo/prossimo (2 ago e 2 dic 2026). Slate = alto rischio rinviato. Sottolineare che il quick win Art. 50 è spuntabile subito nell'Engine.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Noi = provider di modelli (Forge/Hub) + abilitatore (Engine). L'utente = deployer, porta la responsabilità dell'alto rischio. La scheda di conformità è l'artefatto del passaggio Art. 25 verso il deployer.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Onestà con il codice: 4 cose funzionano davvero; il resto (schede statiche, README sovradimensionato, no Art. 50, no residenza forzata, no generazione scheda) è la roadmap che finanziamo. Il gap È la ragione del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tabella è il modello di business. Noi assolviamo solo le righe da provider di modello; tutto il resto è del deployer, e per ogni riga vendiamo lo strumento abilitante.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livelli. A sempre (GPAI card), B opzionale per verticali sensibili. Per-modello e generate da Forge. Fondamentale: eliminare le asserzioni auto-assolutorie della scheda statica attuale e aggiungere il disclaimer di responsabilità.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On-prem è il fossato: fornitore di software, non responsabile del trattamento; niente Capo V/Schrems III. RAG preferibile al fine-tuning per la cancellazione. A destra: la linea commerciale vs non-commerciale OSS determina l'esposizione CRA/PLD.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Risposte pronte alle obiezioni più probabili di un VC sofisticato. La chiave: timeline corretta, posizionamento sulla responsabilità, cosa è già in produzione, fossato on-prem.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Chiusura. I tre messaggi + l'ask. Ricordare: materiale interno, non consulenza legale; il testo dell'Omnibus in GU è l'autorità ultima.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777240"/>
            <a:ext cx="2103120" cy="2103120"/>
          </a:xfrm>
          <a:prstGeom prst="ellipse">
            <a:avLst/>
          </a:prstGeom>
          <a:ln w="19050">
            <a:solidFill>
              <a:srgbClr val="C6A7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43593" y="1176833"/>
            <a:ext cx="1303934" cy="1303934"/>
          </a:xfrm>
          <a:prstGeom prst="ellipse">
            <a:avLst/>
          </a:prstGeom>
          <a:ln w="12700">
            <a:solidFill>
              <a:srgbClr val="C6A7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27310" y="1660550"/>
            <a:ext cx="336499" cy="336499"/>
          </a:xfrm>
          <a:prstGeom prst="ellipse">
            <a:avLst/>
          </a:prstGeom>
          <a:solidFill>
            <a:srgbClr val="C6A7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6A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PER LUNAR VENTURES  ·  ETEL FRIEDMANN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Conformità AI Act &amp; GDPR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Ecosistema EULLM</a:t>
            </a:r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·  Engine — Forge — Hub   +   I3K RAG Enterprise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2926080" cy="0"/>
          </a:xfrm>
          <a:prstGeom prst="line">
            <a:avLst/>
          </a:prstGeom>
          <a:noFill/>
          <a:ln w="12700">
            <a:solidFill>
              <a:srgbClr val="9C7B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2578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Situazione attuale e futura · cosa fa già oggi il motore, cosa imporrà la norma, come mettere in regola gli utilizzatori.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Aggiornato 22 luglio 2026  ·  post Digital Omnibus on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9C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CORREZIONE CHE CAMBIA IL PITCH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L'AI Act non entra «al 100%» il 2 agosto 2026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4206240" cy="4023360"/>
          </a:xfrm>
          <a:prstGeom prst="roundRect">
            <a:avLst>
              <a:gd name="adj" fmla="val 1818"/>
            </a:avLst>
          </a:prstGeom>
          <a:solidFill>
            <a:srgbClr val="F1F4F8"/>
          </a:solidFill>
          <a:ln w="12700">
            <a:solidFill>
              <a:srgbClr val="D9DFE8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D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4688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E4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685800" y="3794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2E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più per arrivare pronti sull'alto rischio — proprio dove operiamo: legal · medical · finance.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66360" y="2103120"/>
            <a:ext cx="6446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Omnibus on AI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(Parlamento UE 16 giu · Consiglio 29 giu 2026, in pubblicazione in Gazzetta) ha </a:t>
            </a:r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rinviato il cuore degli obblighi sull'alto rischio.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166360" y="3200400"/>
            <a:ext cx="4297680" cy="274320"/>
          </a:xfrm>
          <a:prstGeom prst="roundRect">
            <a:avLst>
              <a:gd name="adj" fmla="val 50000"/>
            </a:avLst>
          </a:prstGeom>
          <a:solidFill>
            <a:srgbClr val="E8EBF2"/>
          </a:solidFill>
          <a:ln w="9525">
            <a:solidFill>
              <a:srgbClr val="5462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3200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6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rischio Annex III  →  2 dic 2027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66360" y="3639312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E8EBF2"/>
          </a:solidFill>
          <a:ln w="9525">
            <a:solidFill>
              <a:srgbClr val="5462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3639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6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I integrato  →  2 ago 2028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66360" y="4078224"/>
            <a:ext cx="5029200" cy="274320"/>
          </a:xfrm>
          <a:prstGeom prst="roundRect">
            <a:avLst>
              <a:gd name="adj" fmla="val 50000"/>
            </a:avLst>
          </a:prstGeom>
          <a:solidFill>
            <a:srgbClr val="F6ECD7"/>
          </a:solidFill>
          <a:ln w="9525">
            <a:solidFill>
              <a:srgbClr val="9E6A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40782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6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Trasparenza Art. 50  →  2 ago 2026  (invariato)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66360" y="4709160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Restano in vigore comunque: </a:t>
            </a:r>
            <a:pPr indent="0" marL="0">
              <a:buNone/>
            </a:pPr>
            <a:r>
              <a:rPr lang="en-US" sz="14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pratiche vietate (feb 2025) e obblighi GPAI + sanzioni (ago 2025).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5440680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4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noi è timing di go-to-market, non un problema: arriviamo con gli strumenti mentre il mercato si prepara.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9C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TIMELINE EFFETTIVA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scatta, e quando — davvero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417320" y="2697480"/>
            <a:ext cx="9372600" cy="0"/>
          </a:xfrm>
          <a:prstGeom prst="line">
            <a:avLst/>
          </a:prstGeom>
          <a:noFill/>
          <a:ln w="25400">
            <a:solidFill>
              <a:srgbClr val="D9D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feb 2025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298448" y="2578608"/>
            <a:ext cx="237744" cy="237744"/>
          </a:xfrm>
          <a:prstGeom prst="ellipse">
            <a:avLst/>
          </a:prstGeom>
          <a:solidFill>
            <a:srgbClr val="2C7A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6324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Pratiche vietate (Art. 5) + alfabetizzazione 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4348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7F1EB"/>
          </a:solidFill>
          <a:ln w="9525">
            <a:solidFill>
              <a:srgbClr val="2C7A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vigore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2316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ago 2025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72968" y="2578608"/>
            <a:ext cx="237744" cy="237744"/>
          </a:xfrm>
          <a:prstGeom prst="ellipse">
            <a:avLst/>
          </a:prstGeom>
          <a:solidFill>
            <a:srgbClr val="2C7A5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306324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Obblighi GPAI (51–56) + governance + sanzioni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44348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7F1EB"/>
          </a:solidFill>
          <a:ln w="9525">
            <a:solidFill>
              <a:srgbClr val="2C7A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vigore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ago 2026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47488" y="2578608"/>
            <a:ext cx="237744" cy="237744"/>
          </a:xfrm>
          <a:prstGeom prst="ellipse">
            <a:avLst/>
          </a:prstGeom>
          <a:solidFill>
            <a:srgbClr val="9E6A1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306324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Trasparenza Art. 50 — disclosure «sei un'IA»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44348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6ECD7"/>
          </a:solidFill>
          <a:ln w="9525">
            <a:solidFill>
              <a:srgbClr val="9E6A1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6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Attivo · quick win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7220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dic 2026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922008" y="2578608"/>
            <a:ext cx="237744" cy="237744"/>
          </a:xfrm>
          <a:prstGeom prst="ellipse">
            <a:avLst/>
          </a:prstGeom>
          <a:solidFill>
            <a:srgbClr val="9E6A1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06324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Marcatura contenuti sintetici (50(2)) + nuovi divieti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44348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6ECD7"/>
          </a:solidFill>
          <a:ln w="9525">
            <a:solidFill>
              <a:srgbClr val="9E6A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6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dic 2027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796528" y="2578608"/>
            <a:ext cx="237744" cy="237744"/>
          </a:xfrm>
          <a:prstGeom prst="ellipse">
            <a:avLst/>
          </a:prstGeom>
          <a:solidFill>
            <a:srgbClr val="5462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306324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RISCHIO Annex III — provider, deployer, registro UE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01000" y="44348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8EBF2"/>
          </a:solidFill>
          <a:ln w="9525">
            <a:solidFill>
              <a:srgbClr val="5462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6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Rinviato +16m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92124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ago 2028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0671048" y="2578608"/>
            <a:ext cx="237744" cy="237744"/>
          </a:xfrm>
          <a:prstGeom prst="ellipse">
            <a:avLst/>
          </a:prstGeom>
          <a:solidFill>
            <a:srgbClr val="5462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21240" y="3063240"/>
            <a:ext cx="1737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rischio Annex I — prodotti regolati (medicali…)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875520" y="44348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8EBF2"/>
          </a:solidFill>
          <a:ln w="9525">
            <a:solidFill>
              <a:srgbClr val="5462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46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Rinviato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1F4F8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2 agosto 2026 «morde» solo la trasparenza (Art. 50). </a:t>
            </a:r>
            <a:pPr indent="0" marL="0">
              <a:buNone/>
            </a:pPr>
            <a:r>
              <a:rPr lang="en-US" sz="14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macchina pesante dell'alto rischio arriva a fine 2027 / metà 2028 — mesi che usiamo per arrivare pronti.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9C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CATENA DEL VALORE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di modelli + abilitatore — non deployer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1F4F8"/>
          </a:solidFill>
          <a:ln w="12700">
            <a:solidFill>
              <a:srgbClr val="D9DF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457200" cy="457200"/>
          </a:xfrm>
          <a:prstGeom prst="ellipse">
            <a:avLst/>
          </a:prstGeom>
          <a:solidFill>
            <a:srgbClr val="2E4B8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C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· HUB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/ downstream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Comprimiamo e ridistribuiamo modelli aperti sotto il marchio eullm/… → siamo provider del modello GPAI.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1/3-compute: gestito documentando come se lo fossimo. &lt;10²⁵ FLOP ⇒ no rischio sistemico.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1F4F8"/>
          </a:solidFill>
          <a:ln w="12700">
            <a:solidFill>
              <a:srgbClr val="D9DF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D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240280"/>
            <a:ext cx="457200" cy="457200"/>
          </a:xfrm>
          <a:prstGeom prst="ellipse">
            <a:avLst/>
          </a:prstGeom>
          <a:solidFill>
            <a:srgbClr val="2E4B8B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C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1772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Abilitatore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3383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girare l'inferenza è deploying, non «providing». Distribuire un motore (come Ollama) non è fornire un modello.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17720" y="45262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responsabilità nasce nell'uso, dove deve stare.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965960"/>
            <a:ext cx="3474720" cy="3246120"/>
          </a:xfrm>
          <a:prstGeom prst="roundRect">
            <a:avLst>
              <a:gd name="adj" fmla="val 2254"/>
            </a:avLst>
          </a:prstGeom>
          <a:solidFill>
            <a:srgbClr val="F1F4F8"/>
          </a:solidFill>
          <a:ln w="12700">
            <a:solidFill>
              <a:srgbClr val="D9DF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D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2240280"/>
            <a:ext cx="457200" cy="457200"/>
          </a:xfrm>
          <a:prstGeom prst="ellipse">
            <a:avLst/>
          </a:prstGeom>
          <a:solidFill>
            <a:srgbClr val="2E4B8B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068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C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UTILIZZATORE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12480" y="33832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usa il modello nel proprio contesto. Se l'uso è Annex III, gli obblighi da alto rischio sono suoi.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45262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gli forniamo gli strumenti per assolverli.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EF2FB"/>
          </a:solidFill>
          <a:ln w="12700">
            <a:solidFill>
              <a:srgbClr val="C9D5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25 rafforzato dall'Omnibus: </a:t>
            </a:r>
            <a:pPr indent="0" marL="0">
              <a:buNone/>
            </a:pPr>
            <a:r>
              <a:rPr lang="en-US" sz="14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provider a monte passa a valle documentazione tecnica, limiti noti e accesso per i test → </a:t>
            </a:r>
            <a:pPr indent="0" marL="0">
              <a:buNone/>
            </a:pPr>
            <a:r>
              <a:rPr lang="en-US" sz="14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di conformità È quell'artefatto.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9C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OGGI → FUTURO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gira davvero, e il gap che è la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E7F1EB"/>
          </a:solidFill>
          <a:ln w="12700">
            <a:solidFill>
              <a:srgbClr val="BFD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2C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 DAVVERO  (in codice)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807208"/>
            <a:ext cx="237744" cy="237744"/>
          </a:xfrm>
          <a:prstGeom prst="ellipse">
            <a:avLst/>
          </a:prstGeom>
          <a:solidFill>
            <a:srgbClr val="2C7A5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07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743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locale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~/.eullm/audit · on-by-default · su tutte le API (solo metadati)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3493008"/>
            <a:ext cx="237744" cy="237744"/>
          </a:xfrm>
          <a:prstGeom prst="ellipse">
            <a:avLst/>
          </a:prstGeom>
          <a:solidFill>
            <a:srgbClr val="2C7A5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93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34290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telemetria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tracker, UI self-contained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178808"/>
            <a:ext cx="237744" cy="237744"/>
          </a:xfrm>
          <a:prstGeom prst="ellipse">
            <a:avLst/>
          </a:prstGeom>
          <a:solidFill>
            <a:srgbClr val="2C7A5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78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4114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allowlist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ingresso, default loopback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4864608"/>
            <a:ext cx="237744" cy="237744"/>
          </a:xfrm>
          <a:prstGeom prst="ellipse">
            <a:avLst/>
          </a:prstGeom>
          <a:solidFill>
            <a:srgbClr val="2C7A5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864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48006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SHA-256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pesi scaricati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5550408"/>
            <a:ext cx="237744" cy="237744"/>
          </a:xfrm>
          <a:prstGeom prst="ellipse">
            <a:avLst/>
          </a:prstGeom>
          <a:solidFill>
            <a:srgbClr val="2C7A5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550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54864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Anonimizzatore PII (Forge)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 CF, IBAN, nomi da Cassazione prima del training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20116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6E4DE"/>
          </a:solidFill>
          <a:ln w="12700">
            <a:solidFill>
              <a:srgbClr val="E4BF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A83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ROADMAP FINANZIABILE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2807208"/>
            <a:ext cx="237744" cy="237744"/>
          </a:xfrm>
          <a:prstGeom prst="ellipse">
            <a:avLst/>
          </a:prstGeom>
          <a:solidFill>
            <a:srgbClr val="A83F29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2807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2743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Schede Hub statiche/hardcoded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identiche per ogni modello, asserzioni indifendibili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629400" y="3493008"/>
            <a:ext cx="237744" cy="237744"/>
          </a:xfrm>
          <a:prstGeom prst="ellipse">
            <a:avLst/>
          </a:prstGeom>
          <a:solidFill>
            <a:srgbClr val="A83F29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3493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95160" y="34290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sovradimensionato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«audit di ogni request/response», «dati solo in UE»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629400" y="4178808"/>
            <a:ext cx="237744" cy="237744"/>
          </a:xfrm>
          <a:prstGeom prst="ellipse">
            <a:avLst/>
          </a:prstGeom>
          <a:solidFill>
            <a:srgbClr val="A83F29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4178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95160" y="4114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feature Art. 50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/ watermark assenti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629400" y="4864608"/>
            <a:ext cx="237744" cy="237744"/>
          </a:xfrm>
          <a:prstGeom prst="ellipse">
            <a:avLst/>
          </a:prstGeom>
          <a:solidFill>
            <a:srgbClr val="A83F29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4864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48006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generazione scheda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Forge — provenienza non persistita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29400" y="5550408"/>
            <a:ext cx="237744" cy="237744"/>
          </a:xfrm>
          <a:prstGeom prst="ellipse">
            <a:avLst/>
          </a:prstGeom>
          <a:solidFill>
            <a:srgbClr val="A83F29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5550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95160" y="54864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Residenza UE non forzata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modelli via HuggingFace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9C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RIPARTIZIONE RESPONSABILITÀ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«Noi vs Utilizzatore» — questa tabella è il business model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737360"/>
                <a:gridCol w="539496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Obbligo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risponde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Strumento che forniamo NOI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Riassunto dati di training</a:t>
                      </a:r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(53(1)(d))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4B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EULLM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Generatore in Forge + pubblicazione su Hub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copyright / opt-out TDM</a:t>
                      </a:r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(53(1)(c))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4B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EULLM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allegata alla scheda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Trasparenza Art. 50</a:t>
                      </a:r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(disclosure IA)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46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disclosure nell'Engine + istruzioni in scheda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Classificazione alto rischio</a:t>
                      </a:r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(Art. 6)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46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Scheda che delimita l'uso + trigger di rischio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governance / Annex IV</a:t>
                      </a:r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(Art. 9–11)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46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Enablement Pack pre-compilato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 ≥6 mesi</a:t>
                      </a:r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(Art. 12/26)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46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 dell'Engine (da estendere)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DPIA</a:t>
                      </a:r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(Art. 35 GDPR)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5462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a supporto + audit compatibile Art. 30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1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Sicurezza</a:t>
                      </a:r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(Art. 32 / Art. 15)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C7B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Entrambi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343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+ hardening + (roadmap) SBOM/CRA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4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Ogni riga «Deployer» è un punto in cui vendiamo lo strumento che gli fa spuntare la casella — senza ereditarne la responsabilità.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9C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LE SCHEDE DI CONFORMITÀ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organizzarle — due livelli, per-modello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Riferite ai modelli verticalizzati (in sviluppo), non a quelli scaricabili oggi · generate da Forge, servite dal Hub · mai auto-assolutorie.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03520" cy="3703320"/>
          </a:xfrm>
          <a:prstGeom prst="roundRect">
            <a:avLst>
              <a:gd name="adj" fmla="val 1975"/>
            </a:avLst>
          </a:prstGeom>
          <a:solidFill>
            <a:srgbClr val="F1F4F8"/>
          </a:solidFill>
          <a:ln w="12700">
            <a:solidFill>
              <a:srgbClr val="D9DF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D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A — SEMPRE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4871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GPAI Model Compliance Card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9443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modello. Impacchetta ciò che l'AI Act richiede.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3456432"/>
            <a:ext cx="466344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56432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XI §1 — descrizione + architettura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3803904"/>
            <a:ext cx="466344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803904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53(1)(d) — riassunto training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4151376"/>
            <a:ext cx="466344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51376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53(1)(c) — policy copyright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4498848"/>
            <a:ext cx="466344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498848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50 — note trasparenza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4846320"/>
            <a:ext cx="466344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846320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previsto + trigger alto rischio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" y="5193792"/>
            <a:ext cx="466344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193792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provenienza + hash GGUF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2011680"/>
            <a:ext cx="5303520" cy="3703320"/>
          </a:xfrm>
          <a:prstGeom prst="roundRect">
            <a:avLst>
              <a:gd name="adj" fmla="val 1975"/>
            </a:avLst>
          </a:prstGeom>
          <a:solidFill>
            <a:srgbClr val="F1F4F8"/>
          </a:solidFill>
          <a:ln w="12700">
            <a:solidFill>
              <a:srgbClr val="D9DFE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BD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2194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9C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 B — OPZIONALE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9400" y="24871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Enablement Pack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29400" y="29443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verticali sensibili: legal · medical · finance.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29400" y="3456432"/>
            <a:ext cx="466344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456432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pre-compila Annex IV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29400" y="3803904"/>
            <a:ext cx="466344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803904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Art. 26 (deployer)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29400" y="4151376"/>
            <a:ext cx="466344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4151376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sorveglianza umana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29400" y="4498848"/>
            <a:ext cx="466344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4498848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metriche di accuratezza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4846320"/>
            <a:ext cx="466344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4846320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retention (≥6 mesi)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8521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6E4DE"/>
          </a:solidFill>
          <a:ln w="12700">
            <a:solidFill>
              <a:srgbClr val="E4BFB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852160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3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correggere: </a:t>
            </a:r>
            <a:pPr indent="0" marL="0">
              <a:buNone/>
            </a:pPr>
            <a:r>
              <a:rPr lang="en-US" sz="13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le asserzioni hardcoded (gdpr_compliant:true · «no personal data» · systemic_risk:false) → fatti qualificati + disclaimer. </a:t>
            </a:r>
            <a:pPr indent="0" marL="0">
              <a:buNone/>
            </a:pPr>
            <a:r>
              <a:rPr lang="en-US" sz="13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classificazione di rischio dipende dall'uso.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9C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GDPR &amp; ALTRE NORME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vantaggio on-prem, e cosa altro morde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EEF2FB"/>
          </a:solidFill>
          <a:ln w="12700">
            <a:solidFill>
              <a:srgbClr val="C9D5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E4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 STRUTTURALE ON-PREM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Inferenza locale ⇒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fornitore di software, non responsabile del trattamento.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657600"/>
            <a:ext cx="128016" cy="128016"/>
          </a:xfrm>
          <a:prstGeom prst="ellipse">
            <a:avLst/>
          </a:prstGeom>
          <a:solidFill>
            <a:srgbClr val="2E4B8B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356616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Capo V · niente rischio «Schrems III»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4279392"/>
            <a:ext cx="128016" cy="128016"/>
          </a:xfrm>
          <a:prstGeom prst="ellipse">
            <a:avLst/>
          </a:prstGeom>
          <a:solidFill>
            <a:srgbClr val="2E4B8B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41879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&gt; fine-tuning: il vector store è cancellabile (Art. 17); i pesi no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4901184"/>
            <a:ext cx="128016" cy="128016"/>
          </a:xfrm>
          <a:prstGeom prst="ellipse">
            <a:avLst/>
          </a:prstGeom>
          <a:solidFill>
            <a:srgbClr val="2E4B8B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480974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EDPB Opinion 28/2024: il modello NON è automaticamente anonimo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5522976"/>
            <a:ext cx="128016" cy="128016"/>
          </a:xfrm>
          <a:prstGeom prst="ellipse">
            <a:avLst/>
          </a:prstGeom>
          <a:solidFill>
            <a:srgbClr val="2E4B8B"/>
          </a:solidFill>
          <a:ln/>
        </p:spPr>
      </p:sp>
      <p:sp>
        <p:nvSpPr>
          <p:cNvPr id="14" name="Text 12"/>
          <p:cNvSpPr/>
          <p:nvPr/>
        </p:nvSpPr>
        <p:spPr>
          <a:xfrm>
            <a:off x="1170432" y="543153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9 (medico/legale): doppia base · Art. 22/SCHUFA: human-in-the-loop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1488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9C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ALTRE NORME CHE CI RIGUARDANO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542032"/>
            <a:ext cx="5303520" cy="731520"/>
          </a:xfrm>
          <a:prstGeom prst="roundRect">
            <a:avLst>
              <a:gd name="adj" fmla="val 7500"/>
            </a:avLst>
          </a:prstGeom>
          <a:solidFill>
            <a:srgbClr val="F1F4F8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6151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  Dir. 2024/2853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28803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Recep. 9 dic 2026 · SW/IA = «prodotti», resp. oggettiva · OSS commerciale in scope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9360" y="3319272"/>
            <a:ext cx="5303520" cy="731520"/>
          </a:xfrm>
          <a:prstGeom prst="roundRect">
            <a:avLst>
              <a:gd name="adj" fmla="val 7500"/>
            </a:avLst>
          </a:prstGeom>
          <a:solidFill>
            <a:srgbClr val="F1F4F8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339242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 Reg. 2024/2847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36576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Segnalazioni 11 set 2026 → pieni 11 dic 2027 · commerciale = manufacturer (SBOM, CE)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309360" y="4096512"/>
            <a:ext cx="5303520" cy="731520"/>
          </a:xfrm>
          <a:prstGeom prst="roundRect">
            <a:avLst>
              <a:gd name="adj" fmla="val 7500"/>
            </a:avLst>
          </a:prstGeom>
          <a:solidFill>
            <a:srgbClr val="F1F4F8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1696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 Reg. 2022/2554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44348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17 gen 2025 · possiamo essere fornitore ICT terzo di clienti finanziari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9360" y="4873752"/>
            <a:ext cx="5303520" cy="731520"/>
          </a:xfrm>
          <a:prstGeom prst="roundRect">
            <a:avLst>
              <a:gd name="adj" fmla="val 7500"/>
            </a:avLst>
          </a:prstGeom>
          <a:solidFill>
            <a:srgbClr val="F1F4F8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9469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NIS2  Dir. 2022/2555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92240" y="52120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Vincola i nostri clienti → requisito di vendita sulla supply chain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5650992"/>
            <a:ext cx="5303520" cy="731520"/>
          </a:xfrm>
          <a:prstGeom prst="roundRect">
            <a:avLst>
              <a:gd name="adj" fmla="val 7500"/>
            </a:avLst>
          </a:prstGeom>
          <a:solidFill>
            <a:srgbClr val="F1F4F8"/>
          </a:solidFill>
          <a:ln w="9525">
            <a:solidFill>
              <a:srgbClr val="D9DF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57241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Liability Directive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92240" y="59893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RITIRATA (ott 2025) → responsabilità via PLD + diritto nazionale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9C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CHEAT-SHEET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Domande probabili di Etel — risposte pronte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1F4F8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402336" cy="402336"/>
          </a:xfrm>
          <a:prstGeom prst="ellipse">
            <a:avLst/>
          </a:prstGeom>
          <a:solidFill>
            <a:srgbClr val="2E4B8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2677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l'AI Act non è già in vigore?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Divieti e obblighi GPAI sì; l'alto rischio è rinviato al 2 dic 2027 dal Digital Omnibus. Per noi è un vantaggio di go-to-market.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1F4F8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286000"/>
            <a:ext cx="402336" cy="402336"/>
          </a:xfrm>
          <a:prstGeom prst="ellipse">
            <a:avLst/>
          </a:prstGeom>
          <a:solidFill>
            <a:srgbClr val="2E4B8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2677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 assumete responsabilità sui modelli?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2971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Siamo provider di modelli aperti + abilitatori. La conformità è del deployer; noi forniamo documentazione e audit. Il README lo dichiara già.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1F4F8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43400"/>
            <a:ext cx="402336" cy="402336"/>
          </a:xfrm>
          <a:prstGeom prst="ellipse">
            <a:avLst/>
          </a:prstGeom>
          <a:solidFill>
            <a:srgbClr val="2E4B8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3251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avete già in produzione?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con audit on-by-default e zero telemetria, anonimizzatore PII in Forge, Hub con formato scheda e API. Modelli demo e schede per-modello: in sviluppo.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4069080"/>
            <a:ext cx="5303520" cy="1874520"/>
          </a:xfrm>
          <a:prstGeom prst="roundRect">
            <a:avLst>
              <a:gd name="adj" fmla="val 3902"/>
            </a:avLst>
          </a:prstGeom>
          <a:solidFill>
            <a:srgbClr val="F1F4F8"/>
          </a:solidFill>
          <a:ln w="12700">
            <a:solidFill>
              <a:srgbClr val="D9DF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343400"/>
            <a:ext cx="402336" cy="402336"/>
          </a:xfrm>
          <a:prstGeom prst="ellipse">
            <a:avLst/>
          </a:prstGeom>
          <a:solidFill>
            <a:srgbClr val="2E4B8B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343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43251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non un modello USA + layer di compliance?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5029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4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cloud USA il Capo V GDPR e Schrems III non si tolgono con un layer. Noi togliamo l'egress alla radice (on-prem) + doc AI Act nativa.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685800"/>
            <a:ext cx="1371600" cy="1371600"/>
          </a:xfrm>
          <a:prstGeom prst="ellipse">
            <a:avLst/>
          </a:prstGeom>
          <a:ln w="19050">
            <a:solidFill>
              <a:srgbClr val="C6A7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90404" y="946404"/>
            <a:ext cx="850392" cy="850392"/>
          </a:xfrm>
          <a:prstGeom prst="ellipse">
            <a:avLst/>
          </a:prstGeom>
          <a:ln w="12700">
            <a:solidFill>
              <a:srgbClr val="C6A7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05872" y="1261872"/>
            <a:ext cx="219456" cy="219456"/>
          </a:xfrm>
          <a:prstGeom prst="ellipse">
            <a:avLst/>
          </a:prstGeom>
          <a:solidFill>
            <a:srgbClr val="C6A7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6A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NOSTRA POSIZIONE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Diamo gli strumenti per mettersi in regola — senza assumerci la responsabilità del deployer.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1D2740"/>
          </a:solidFill>
          <a:ln w="12700">
            <a:solidFill>
              <a:srgbClr val="3340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46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A7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sovrano a due livelli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EULLM (modelli+inferenza) + I3K RAG Enterprise, già funzionante in inferenza, audit e anonimizzazione.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306324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1D2740"/>
          </a:solidFill>
          <a:ln w="12700">
            <a:solidFill>
              <a:srgbClr val="3340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246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A7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3767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Compliance-as-a-product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17720" y="4160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Vendiamo gli strumenti — schede, audit, on-prem — non la responsabilità. La tabella è il modello di ricavo.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306324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1D2740"/>
          </a:solidFill>
          <a:ln w="12700">
            <a:solidFill>
              <a:srgbClr val="3340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3246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A7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12480" y="37673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0" y="4160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rischio a dic 2027 = ~16 mesi per arrivare pronti, mentre il mercato UE regolato deve comprare sovrano.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7273"/>
            </a:avLst>
          </a:prstGeom>
          <a:ln w="15875">
            <a:solidFill>
              <a:srgbClr val="9C7B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166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6A7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L'ask: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capitale per (a) completare i 3 modelli verticalizzati con schede per-modello, (b) audit 2.0 + trasparenza Art. 50, (c) go-to-market PA / settori regolati UE prima della scadenza dic 2027.  </a:t>
            </a:r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9A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[inserire cifra/obiettivo]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2026-07-22T07:27:45Z</dcterms:created>
  <dcterms:modified xsi:type="dcterms:W3CDTF">2026-07-22T07:27:45Z</dcterms:modified>
</cp:coreProperties>
</file>